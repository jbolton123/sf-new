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Q1 2026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Strong Growth Across All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500"/>
              </a:spcBef>
              <a:defRPr sz="2400"/>
            </a:pPr>
            <a:r>
              <a:t>• Revenue increased 42% YoY to $8.7M</a:t>
            </a:r>
          </a:p>
          <a:p>
            <a:pPr>
              <a:spcBef>
                <a:spcPts val="1500"/>
              </a:spcBef>
              <a:defRPr sz="2400"/>
            </a:pPr>
            <a:r>
              <a:t>• Customer acquisition up 67% - added 234 new customers</a:t>
            </a:r>
          </a:p>
          <a:p>
            <a:pPr>
              <a:spcBef>
                <a:spcPts val="1500"/>
              </a:spcBef>
              <a:defRPr sz="2400"/>
            </a:pPr>
            <a:r>
              <a:t>• Product launch exceeded targets by 28%</a:t>
            </a:r>
          </a:p>
          <a:p>
            <a:pPr>
              <a:spcBef>
                <a:spcPts val="1500"/>
              </a:spcBef>
              <a:defRPr sz="2400"/>
            </a:pPr>
            <a:r>
              <a:t>• Team expansion: 12 new hires across engineering and sales</a:t>
            </a:r>
          </a:p>
          <a:p>
            <a:pPr>
              <a:spcBef>
                <a:spcPts val="1500"/>
              </a:spcBef>
              <a:defRPr sz="2400"/>
            </a:pPr>
            <a:r>
              <a:t>• Net Promoter Score improved from 68 to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000"/>
            </a:pPr>
            <a:r>
              <a:t>Total Revenue: $8.7M (+42% YoY)</a:t>
            </a:r>
          </a:p>
          <a:p>
            <a:pPr>
              <a:spcBef>
                <a:spcPts val="800"/>
              </a:spcBef>
              <a:defRPr sz="2000"/>
            </a:pPr>
          </a:p>
          <a:p>
            <a:pPr>
              <a:spcBef>
                <a:spcPts val="800"/>
              </a:spcBef>
              <a:defRPr sz="2000"/>
            </a:pPr>
            <a:r>
              <a:t>By Product Line:</a:t>
            </a:r>
          </a:p>
          <a:p>
            <a:pPr>
              <a:spcBef>
                <a:spcPts val="800"/>
              </a:spcBef>
              <a:defRPr sz="2000"/>
            </a:pPr>
            <a:r>
              <a:t>  → Enterprise: $5.2M (60%)</a:t>
            </a:r>
          </a:p>
          <a:p>
            <a:pPr>
              <a:spcBef>
                <a:spcPts val="800"/>
              </a:spcBef>
              <a:defRPr sz="2000"/>
            </a:pPr>
            <a:r>
              <a:t>  → SMB: $2.4M (28%)</a:t>
            </a:r>
          </a:p>
          <a:p>
            <a:pPr>
              <a:spcBef>
                <a:spcPts val="800"/>
              </a:spcBef>
              <a:defRPr sz="2000"/>
            </a:pPr>
            <a:r>
              <a:t>  → Self-Service: $1.1M (12%)</a:t>
            </a:r>
          </a:p>
          <a:p>
            <a:pPr>
              <a:spcBef>
                <a:spcPts val="800"/>
              </a:spcBef>
              <a:defRPr sz="2000"/>
            </a:pPr>
          </a:p>
          <a:p>
            <a:pPr>
              <a:spcBef>
                <a:spcPts val="800"/>
              </a:spcBef>
              <a:defRPr sz="2000"/>
            </a:pPr>
            <a:r>
              <a:t>By Region:</a:t>
            </a:r>
          </a:p>
          <a:p>
            <a:pPr>
              <a:spcBef>
                <a:spcPts val="800"/>
              </a:spcBef>
              <a:defRPr sz="2000"/>
            </a:pPr>
            <a:r>
              <a:t>  → North America: $6.1M (70%)</a:t>
            </a:r>
          </a:p>
          <a:p>
            <a:pPr>
              <a:spcBef>
                <a:spcPts val="800"/>
              </a:spcBef>
              <a:defRPr sz="2000"/>
            </a:pPr>
            <a:r>
              <a:t>  → EMEA: $1.7M (20%)</a:t>
            </a:r>
          </a:p>
          <a:p>
            <a:pPr>
              <a:spcBef>
                <a:spcPts val="800"/>
              </a:spcBef>
              <a:defRPr sz="2000"/>
            </a:pPr>
            <a:r>
              <a:t>  → APAC: $0.9M (10%)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Customer Growth &amp;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/>
            </a:pPr>
            <a:r>
              <a:t>New Customers: 234 (+67% vs Q1 2025)</a:t>
            </a:r>
          </a:p>
          <a:p>
            <a:pPr>
              <a:spcBef>
                <a:spcPts val="1000"/>
              </a:spcBef>
              <a:defRPr sz="2000"/>
            </a:pPr>
            <a:r>
              <a:t>Total Active Customers: 1,456</a:t>
            </a:r>
          </a:p>
          <a:p>
            <a:pPr>
              <a:spcBef>
                <a:spcPts val="1000"/>
              </a:spcBef>
              <a:defRPr sz="2000"/>
            </a:pPr>
            <a:r>
              <a:t>Churn Rate: 2.3% (industry avg: 5.1%)</a:t>
            </a:r>
          </a:p>
          <a:p>
            <a:pPr>
              <a:spcBef>
                <a:spcPts val="1000"/>
              </a:spcBef>
              <a:defRPr sz="2000"/>
            </a:pPr>
            <a:r>
              <a:t>Customer Lifetime Value: $47,300</a:t>
            </a:r>
          </a:p>
          <a:p>
            <a:pPr>
              <a:spcBef>
                <a:spcPts val="1000"/>
              </a:spcBef>
              <a:defRPr sz="2000"/>
            </a:pPr>
            <a:r>
              <a:t>Average Deal Size: $37,200 (+23% QoQ)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Top 3 Customer Wins:</a:t>
            </a:r>
          </a:p>
          <a:p>
            <a:pPr>
              <a:spcBef>
                <a:spcPts val="1000"/>
              </a:spcBef>
              <a:defRPr sz="2000"/>
            </a:pPr>
            <a:r>
              <a:t>  • Global Financial Services - $420K ARR</a:t>
            </a:r>
          </a:p>
          <a:p>
            <a:pPr>
              <a:spcBef>
                <a:spcPts val="1000"/>
              </a:spcBef>
              <a:defRPr sz="2000"/>
            </a:pPr>
            <a:r>
              <a:t>  • Healthcare Platform - $280K ARR</a:t>
            </a:r>
          </a:p>
          <a:p>
            <a:pPr>
              <a:spcBef>
                <a:spcPts val="1000"/>
              </a:spcBef>
              <a:defRPr sz="2000"/>
            </a:pPr>
            <a:r>
              <a:t>  • E-commerce Leader - $195K ARR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Q2 2026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/>
            </a:pPr>
            <a:r>
              <a:t>Revenue Target: $10.2M (+17% QoQ)</a:t>
            </a:r>
          </a:p>
          <a:p>
            <a:pPr>
              <a:spcBef>
                <a:spcPts val="1000"/>
              </a:spcBef>
              <a:defRPr sz="2000"/>
            </a:pPr>
            <a:r>
              <a:t>New Customer Target: 180-200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Key Initiatives:</a:t>
            </a:r>
          </a:p>
          <a:p>
            <a:pPr>
              <a:spcBef>
                <a:spcPts val="1000"/>
              </a:spcBef>
              <a:defRPr sz="2000"/>
            </a:pPr>
            <a:r>
              <a:t>  • Launch AI-powered analytics module (May)</a:t>
            </a:r>
          </a:p>
          <a:p>
            <a:pPr>
              <a:spcBef>
                <a:spcPts val="1000"/>
              </a:spcBef>
              <a:defRPr sz="2000"/>
            </a:pPr>
            <a:r>
              <a:t>  • Expand into 3 new verticals</a:t>
            </a:r>
          </a:p>
          <a:p>
            <a:pPr>
              <a:spcBef>
                <a:spcPts val="1000"/>
              </a:spcBef>
              <a:defRPr sz="2000"/>
            </a:pPr>
            <a:r>
              <a:t>  • Open APAC office in Singapore</a:t>
            </a:r>
          </a:p>
          <a:p>
            <a:pPr>
              <a:spcBef>
                <a:spcPts val="1000"/>
              </a:spcBef>
              <a:defRPr sz="2000"/>
            </a:pPr>
            <a:r>
              <a:t>  • Release mobile app (beta in June)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Strategic Focus:</a:t>
            </a:r>
          </a:p>
          <a:p>
            <a:pPr>
              <a:spcBef>
                <a:spcPts val="1000"/>
              </a:spcBef>
              <a:defRPr sz="2000"/>
            </a:pPr>
            <a:r>
              <a:t>  → Accelerate enterprise pipeline</a:t>
            </a:r>
          </a:p>
          <a:p>
            <a:pPr>
              <a:spcBef>
                <a:spcPts val="1000"/>
              </a:spcBef>
              <a:defRPr sz="2000"/>
            </a:pPr>
            <a:r>
              <a:t>  → Enhance product-market fit in healthcare</a:t>
            </a:r>
          </a:p>
          <a:p>
            <a:pPr>
              <a:spcBef>
                <a:spcPts val="1000"/>
              </a:spcBef>
              <a:defRPr sz="2000"/>
            </a:pPr>
            <a:r>
              <a:t>  → Scale customer success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