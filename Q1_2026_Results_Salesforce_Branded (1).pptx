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37160" cy="1097280"/>
          </a:xfrm>
          <a:prstGeom prst="rect">
            <a:avLst/>
          </a:prstGeom>
          <a:solidFill>
            <a:srgbClr val="0D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Arial"/>
              </a:defRPr>
            </a:pPr>
            <a:r>
              <a:t>Q1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D9DDA"/>
                </a:solidFill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0D0FE"/>
                </a:solidFill>
                <a:latin typeface="Arial"/>
              </a:defRPr>
            </a:pPr>
            <a:r>
              <a:t>Strong Growth Across All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44444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48966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32D60"/>
                </a:solidFill>
                <a:latin typeface="Arial"/>
              </a:defRPr>
            </a:pPr>
            <a:r>
              <a:t>Key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0D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032D60"/>
                </a:solidFill>
                <a:latin typeface="Arial"/>
              </a:defRPr>
            </a:pPr>
            <a:r>
              <a:t>• Revenue increased 42% YoY to $8.7M</a:t>
            </a:r>
          </a:p>
          <a:p>
            <a:pPr>
              <a:spcBef>
                <a:spcPts val="1400"/>
              </a:spcBef>
              <a:defRPr sz="2000">
                <a:solidFill>
                  <a:srgbClr val="0B5CAB"/>
                </a:solidFill>
                <a:latin typeface="Arial"/>
              </a:defRPr>
            </a:pPr>
            <a:r>
              <a:t>• Customer acquisition up 67% - added 234 new customers</a:t>
            </a:r>
          </a:p>
          <a:p>
            <a:pPr>
              <a:spcBef>
                <a:spcPts val="1400"/>
              </a:spcBef>
              <a:defRPr sz="2000">
                <a:solidFill>
                  <a:srgbClr val="0B827C"/>
                </a:solidFill>
                <a:latin typeface="Arial"/>
              </a:defRPr>
            </a:pPr>
            <a:r>
              <a:t>• Product launch exceeded targets by 28%</a:t>
            </a:r>
          </a:p>
          <a:p>
            <a:pPr>
              <a:spcBef>
                <a:spcPts val="1400"/>
              </a:spcBef>
              <a:defRPr sz="2000">
                <a:solidFill>
                  <a:srgbClr val="DD7A01"/>
                </a:solidFill>
                <a:latin typeface="Arial"/>
              </a:defRPr>
            </a:pPr>
            <a:r>
              <a:t>• Team expansion: 12 new hires across engineering and sales</a:t>
            </a:r>
          </a:p>
          <a:p>
            <a:pPr>
              <a:spcBef>
                <a:spcPts val="1400"/>
              </a:spcBef>
              <a:defRPr sz="2000">
                <a:solidFill>
                  <a:srgbClr val="B60554"/>
                </a:solidFill>
                <a:latin typeface="Arial"/>
              </a:defRPr>
            </a:pPr>
            <a:r>
              <a:t>• Net Promoter Score improved from 68 to 79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48966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32D60"/>
                </a:solidFill>
                <a:latin typeface="Arial"/>
              </a:defRPr>
            </a:pPr>
            <a:r>
              <a:t>Revenue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2560320" cy="27432"/>
          </a:xfrm>
          <a:prstGeom prst="rect">
            <a:avLst/>
          </a:prstGeom>
          <a:solidFill>
            <a:srgbClr val="0D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097280"/>
            <a:ext cx="2743200" cy="9144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$8.7M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+42%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2D60"/>
                </a:solidFill>
              </a:defRPr>
            </a:pPr>
            <a:r>
              <a:t>By Product Line</a:t>
            </a:r>
          </a:p>
          <a:p>
            <a:pPr>
              <a:spcBef>
                <a:spcPts val="800"/>
              </a:spcBef>
              <a:defRPr sz="1800">
                <a:solidFill>
                  <a:srgbClr val="444444"/>
                </a:solidFill>
                <a:latin typeface="Arial"/>
              </a:defRPr>
            </a:pPr>
            <a:r>
              <a:t>  • Enterprise: $5.2M (60%)</a:t>
            </a:r>
          </a:p>
          <a:p>
            <a:pPr>
              <a:spcBef>
                <a:spcPts val="800"/>
              </a:spcBef>
              <a:defRPr sz="1800">
                <a:solidFill>
                  <a:srgbClr val="444444"/>
                </a:solidFill>
                <a:latin typeface="Arial"/>
              </a:defRPr>
            </a:pPr>
            <a:r>
              <a:t>  • SMB: $2.4M (28%)</a:t>
            </a:r>
          </a:p>
          <a:p>
            <a:pPr>
              <a:spcBef>
                <a:spcPts val="800"/>
              </a:spcBef>
              <a:defRPr sz="1800">
                <a:solidFill>
                  <a:srgbClr val="444444"/>
                </a:solidFill>
                <a:latin typeface="Arial"/>
              </a:defRPr>
            </a:pPr>
            <a:r>
              <a:t>  • Self-Service: $1.1M (12%)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2D60"/>
                </a:solidFill>
              </a:defRPr>
            </a:pPr>
            <a:r>
              <a:t>By Region</a:t>
            </a:r>
          </a:p>
          <a:p>
            <a:pPr>
              <a:spcBef>
                <a:spcPts val="800"/>
              </a:spcBef>
              <a:defRPr sz="1800">
                <a:solidFill>
                  <a:srgbClr val="444444"/>
                </a:solidFill>
                <a:latin typeface="Arial"/>
              </a:defRPr>
            </a:pPr>
            <a:r>
              <a:t>  • North America: $6.1M (70%)</a:t>
            </a:r>
          </a:p>
          <a:p>
            <a:pPr>
              <a:spcBef>
                <a:spcPts val="800"/>
              </a:spcBef>
              <a:defRPr sz="1800">
                <a:solidFill>
                  <a:srgbClr val="444444"/>
                </a:solidFill>
                <a:latin typeface="Arial"/>
              </a:defRPr>
            </a:pPr>
            <a:r>
              <a:t>  • EMEA: $1.7M (20%)</a:t>
            </a:r>
          </a:p>
          <a:p>
            <a:pPr>
              <a:spcBef>
                <a:spcPts val="800"/>
              </a:spcBef>
              <a:defRPr sz="1800">
                <a:solidFill>
                  <a:srgbClr val="444444"/>
                </a:solidFill>
                <a:latin typeface="Arial"/>
              </a:defRPr>
            </a:pPr>
            <a:r>
              <a:t>  • APAC: $0.9M (10%)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48966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32D60"/>
                </a:solidFill>
                <a:latin typeface="Arial"/>
              </a:defRPr>
            </a:pPr>
            <a:r>
              <a:t>Customer Growth &amp;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3657600" cy="27432"/>
          </a:xfrm>
          <a:prstGeom prst="rect">
            <a:avLst/>
          </a:prstGeom>
          <a:solidFill>
            <a:srgbClr val="0D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560320" cy="82296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New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97280"/>
            <a:ext cx="2560320" cy="822960"/>
          </a:xfrm>
          <a:prstGeom prst="rect">
            <a:avLst/>
          </a:prstGeom>
          <a:solidFill>
            <a:srgbClr val="0B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344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1,456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6002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Active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560320" cy="822960"/>
          </a:xfrm>
          <a:prstGeom prst="rect">
            <a:avLst/>
          </a:prstGeom>
          <a:solidFill>
            <a:srgbClr val="B60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344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6002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Churn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9456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Customer Lifetime Value: $47,300</a:t>
            </a:r>
          </a:p>
          <a:p>
            <a:pPr>
              <a:spcBef>
                <a:spcPts val="8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Average Deal Size: $37,200 (+23% QoQ)</a:t>
            </a:r>
          </a:p>
          <a:p/>
          <a:p>
            <a:pPr>
              <a:spcBef>
                <a:spcPts val="1600"/>
              </a:spcBef>
              <a:defRPr sz="1800" b="1">
                <a:solidFill>
                  <a:srgbClr val="032D60"/>
                </a:solidFill>
                <a:latin typeface="Arial"/>
              </a:defRPr>
            </a:pPr>
            <a:r>
              <a:t>Top 3 Customer Wins:</a:t>
            </a:r>
          </a:p>
          <a:p>
            <a:pPr>
              <a:spcBef>
                <a:spcPts val="8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  → Global Financial Services - $420K ARR</a:t>
            </a:r>
          </a:p>
          <a:p>
            <a:pPr>
              <a:spcBef>
                <a:spcPts val="8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  → Healthcare Platform - $280K ARR</a:t>
            </a:r>
          </a:p>
          <a:p>
            <a:pPr>
              <a:spcBef>
                <a:spcPts val="8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  → E-commerce Leader - $195K ARR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489661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32D60"/>
                </a:solidFill>
                <a:latin typeface="Arial"/>
              </a:defRPr>
            </a:pPr>
            <a:r>
              <a:t>Q2 2026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2103120" cy="27432"/>
          </a:xfrm>
          <a:prstGeom prst="rect">
            <a:avLst/>
          </a:prstGeom>
          <a:solidFill>
            <a:srgbClr val="0D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2468880" cy="640080"/>
          </a:xfrm>
          <a:prstGeom prst="rect">
            <a:avLst/>
          </a:prstGeom>
          <a:solidFill>
            <a:srgbClr val="DD7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Target: $10.2M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50292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B5CAB"/>
                </a:solidFill>
                <a:latin typeface="Arial"/>
              </a:defRPr>
            </a:pPr>
            <a:r>
              <a:t>Key Initiatives</a:t>
            </a:r>
          </a:p>
          <a:p>
            <a:pPr>
              <a:spcBef>
                <a:spcPts val="6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  • Launch AI-powered analytics module (May)</a:t>
            </a:r>
          </a:p>
          <a:p>
            <a:pPr>
              <a:spcBef>
                <a:spcPts val="6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  • Expand into 3 new verticals</a:t>
            </a:r>
          </a:p>
          <a:p>
            <a:pPr>
              <a:spcBef>
                <a:spcPts val="6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  • Open APAC office in Singapore</a:t>
            </a:r>
          </a:p>
          <a:p>
            <a:pPr>
              <a:spcBef>
                <a:spcPts val="6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  • Release mobile app (beta in June)</a:t>
            </a:r>
          </a:p>
          <a:p>
            <a:pPr>
              <a:spcBef>
                <a:spcPts val="2000"/>
              </a:spcBef>
            </a:pPr>
          </a:p>
          <a:p>
            <a:pPr>
              <a:spcAft>
                <a:spcPts val="1000"/>
              </a:spcAft>
              <a:defRPr sz="2000" b="1">
                <a:solidFill>
                  <a:srgbClr val="0B827C"/>
                </a:solidFill>
                <a:latin typeface="Arial"/>
              </a:defRPr>
            </a:pPr>
            <a:r>
              <a:t>Strategic Focus</a:t>
            </a:r>
          </a:p>
          <a:p>
            <a:pPr>
              <a:spcBef>
                <a:spcPts val="6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  • Accelerate enterprise pipeline</a:t>
            </a:r>
          </a:p>
          <a:p>
            <a:pPr>
              <a:spcBef>
                <a:spcPts val="6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  • Enhance product-market fit in healthcare</a:t>
            </a:r>
          </a:p>
          <a:p>
            <a:pPr>
              <a:spcBef>
                <a:spcPts val="600"/>
              </a:spcBef>
              <a:defRPr sz="1600">
                <a:solidFill>
                  <a:srgbClr val="444444"/>
                </a:solidFill>
                <a:latin typeface="Arial"/>
              </a:defRPr>
            </a:pPr>
            <a:r>
              <a:t>  • Scale customer success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